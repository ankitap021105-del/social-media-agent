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85" r:id="rId5"/>
    <p:sldId id="278" r:id="rId6"/>
    <p:sldId id="281" r:id="rId7"/>
    <p:sldId id="279" r:id="rId8"/>
    <p:sldId id="290" r:id="rId9"/>
    <p:sldId id="291" r:id="rId10"/>
    <p:sldId id="292" r:id="rId11"/>
    <p:sldId id="264" r:id="rId12"/>
    <p:sldId id="286" r:id="rId13"/>
    <p:sldId id="280" r:id="rId14"/>
    <p:sldId id="287" r:id="rId15"/>
    <p:sldId id="295" r:id="rId16"/>
    <p:sldId id="293" r:id="rId17"/>
    <p:sldId id="289" r:id="rId18"/>
    <p:sldId id="288"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client id="{CF376E3E-16AD-B220-DB03-D7511C5FAE25}" v="445" dt="2026-06-19T10:18:38.869"/>
    <p1510:client id="{E27D249D-B118-0810-7731-E1B1C378D9D3}" v="5" dt="2026-06-19T09:10:10.53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68AA45C4-2AC1-8517-1BC6-B4D76161A51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A1C5246-838D-B804-A56B-BC9B52B15F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030678B-9A26-414A-24D2-5EADEA30F9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73914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320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320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iffatmujawar123-hub/smart-study-generator-agent.git"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ankitap021105-del/Social-Media-Agent.git"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Cloud and Orchestrate</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967212621"/>
              </p:ext>
            </p:extLst>
          </p:nvPr>
        </p:nvGraphicFramePr>
        <p:xfrm>
          <a:off x="1206162" y="2508456"/>
          <a:ext cx="9065807" cy="2427156"/>
        </p:xfrm>
        <a:graphic>
          <a:graphicData uri="http://schemas.openxmlformats.org/drawingml/2006/table">
            <a:tbl>
              <a:tblPr>
                <a:noFill/>
                <a:tableStyleId>{0AAD8F4D-43EB-41E5-8A38-28AB6DFB1B60}</a:tableStyleId>
              </a:tblPr>
              <a:tblGrid>
                <a:gridCol w="1161557">
                  <a:extLst>
                    <a:ext uri="{9D8B030D-6E8A-4147-A177-3AD203B41FA5}">
                      <a16:colId xmlns:a16="http://schemas.microsoft.com/office/drawing/2014/main" val="20000"/>
                    </a:ext>
                  </a:extLst>
                </a:gridCol>
                <a:gridCol w="2634750">
                  <a:extLst>
                    <a:ext uri="{9D8B030D-6E8A-4147-A177-3AD203B41FA5}">
                      <a16:colId xmlns:a16="http://schemas.microsoft.com/office/drawing/2014/main" val="20002"/>
                    </a:ext>
                  </a:extLst>
                </a:gridCol>
                <a:gridCol w="3364783">
                  <a:extLst>
                    <a:ext uri="{9D8B030D-6E8A-4147-A177-3AD203B41FA5}">
                      <a16:colId xmlns:a16="http://schemas.microsoft.com/office/drawing/2014/main" val="20003"/>
                    </a:ext>
                  </a:extLst>
                </a:gridCol>
                <a:gridCol w="1904717">
                  <a:extLst>
                    <a:ext uri="{9D8B030D-6E8A-4147-A177-3AD203B41FA5}">
                      <a16:colId xmlns:a16="http://schemas.microsoft.com/office/drawing/2014/main" val="20004"/>
                    </a:ext>
                  </a:extLst>
                </a:gridCol>
              </a:tblGrid>
              <a:tr h="1034288">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392868">
                <a:tc>
                  <a:txBody>
                    <a:bodyPr/>
                    <a:lstStyle/>
                    <a:p>
                      <a:pPr marL="0" marR="0" lvl="0" indent="0" algn="l" rtl="0">
                        <a:spcBef>
                          <a:spcPts val="0"/>
                        </a:spcBef>
                        <a:spcAft>
                          <a:spcPts val="0"/>
                        </a:spcAft>
                        <a:buNone/>
                      </a:pPr>
                      <a:r>
                        <a:rPr lang="en-IN" sz="2000" dirty="0"/>
                        <a:t>Ankita Anant Panchal</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ankitapanchal9090@gmail.com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8459060518</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3283974" y="3746091"/>
            <a:ext cx="875071" cy="993058"/>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Social Media Analytics</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Social Media Agent</a:t>
            </a:r>
            <a:endParaRPr lang="en-IN" sz="24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487581" y="733246"/>
            <a:ext cx="10607040" cy="6124754"/>
          </a:xfrm>
          <a:prstGeom prst="rect">
            <a:avLst/>
          </a:prstGeom>
          <a:noFill/>
        </p:spPr>
        <p:txBody>
          <a:bodyPr wrap="square" rtlCol="0">
            <a:spAutoFit/>
          </a:bodyPr>
          <a:lstStyle/>
          <a:p>
            <a:pPr fontAlgn="base"/>
            <a:r>
              <a:rPr lang="en-US" b="1" dirty="0"/>
              <a:t>Problem Statement No.10: Social Media Agent</a:t>
            </a:r>
          </a:p>
          <a:p>
            <a:pPr fontAlgn="base"/>
            <a:endParaRPr lang="en-US" b="1" dirty="0"/>
          </a:p>
          <a:p>
            <a:pPr fontAlgn="base"/>
            <a:r>
              <a:rPr lang="en-US" b="1" dirty="0"/>
              <a:t>The Challenge</a:t>
            </a:r>
          </a:p>
          <a:p>
            <a:pPr fontAlgn="base"/>
            <a:endParaRPr lang="en-US" b="1" dirty="0"/>
          </a:p>
          <a:p>
            <a:pPr fontAlgn="base"/>
            <a:r>
              <a:rPr lang="en-US" b="1" dirty="0"/>
              <a:t>Brands, influencers, and organizations struggle to keep up with the fast-paced and fragmented world of social media. Content trends evolve hourly, audience sentiment shifts rapidly, and competitor strategies are difficult to track. Managing multiple platforms often leads to scattered insights, missed engagement opportunities, and ineffective campaigns. The challenge is not only to collect social media data but also to analyze, predict, and recommend actions in real time.</a:t>
            </a:r>
          </a:p>
          <a:p>
            <a:pPr fontAlgn="base"/>
            <a:endParaRPr lang="en-US" b="1" dirty="0"/>
          </a:p>
          <a:p>
            <a:pPr fontAlgn="base"/>
            <a:r>
              <a:rPr lang="en-US" b="1" dirty="0"/>
              <a:t>The Objective</a:t>
            </a:r>
          </a:p>
          <a:p>
            <a:pPr fontAlgn="base"/>
            <a:endParaRPr lang="en-US" b="1" dirty="0"/>
          </a:p>
          <a:p>
            <a:pPr fontAlgn="base"/>
            <a:r>
              <a:rPr lang="en-US" b="1" dirty="0"/>
              <a:t>Build an agentic Al application that acts as an intelligent social media companion. The solution should:</a:t>
            </a:r>
          </a:p>
          <a:p>
            <a:pPr fontAlgn="base"/>
            <a:endParaRPr lang="en-US" b="1" dirty="0"/>
          </a:p>
          <a:p>
            <a:pPr fontAlgn="base"/>
            <a:r>
              <a:rPr lang="en-US" b="1" dirty="0"/>
              <a:t>1. Fuse Multichannel Data: Collect and synthesize content, comments, hashtags, and competitor posts from platforms like X, LinkedIn, Instagram, and Facebook into unified insights.</a:t>
            </a:r>
          </a:p>
          <a:p>
            <a:pPr fontAlgn="base"/>
            <a:endParaRPr lang="en-US" b="1" dirty="0"/>
          </a:p>
          <a:p>
            <a:pPr fontAlgn="base"/>
            <a:r>
              <a:rPr lang="en-US" b="1" dirty="0"/>
              <a:t>2. Enable Multimodal Interaction:- Accept user inputs (text, images, or voice prompts) and generate creative post drafts, captions, or campaign ideas aligned with brand tone.</a:t>
            </a:r>
          </a:p>
          <a:p>
            <a:pPr fontAlgn="base"/>
            <a:endParaRPr lang="en-US" b="1" dirty="0"/>
          </a:p>
          <a:p>
            <a:pPr fontAlgn="base"/>
            <a:r>
              <a:rPr lang="en-US" b="1" dirty="0"/>
              <a:t>3. Create a Predictive &amp; Agentic Layer: Forecast trending hashtags, audience sentiment shifts, and competitor engagement patterns while suggesting the best posting schedules.</a:t>
            </a:r>
          </a:p>
          <a:p>
            <a:pPr fontAlgn="base"/>
            <a:endParaRPr lang="en-US" b="1" dirty="0"/>
          </a:p>
          <a:p>
            <a:pPr fontAlgn="base"/>
            <a:r>
              <a:rPr lang="en-US" b="1" dirty="0"/>
              <a:t>4. Visualize Social Media Pulse:- Provide a dashboard with real-time analytics-engagement trends, influencer mapping, sentiment tracking, and campaign performance forecasts.</a:t>
            </a:r>
          </a:p>
          <a:p>
            <a:pPr fontAlgn="base"/>
            <a:endParaRPr lang="en-US" b="1" dirty="0"/>
          </a:p>
          <a:p>
            <a:pPr fontAlgn="base"/>
            <a:r>
              <a:rPr lang="en-US" b="1" dirty="0"/>
              <a:t>Tech Stack (Mandatory)</a:t>
            </a:r>
          </a:p>
          <a:p>
            <a:pPr fontAlgn="base"/>
            <a:endParaRPr lang="en-US" b="1" dirty="0"/>
          </a:p>
          <a:p>
            <a:pPr fontAlgn="base"/>
            <a:r>
              <a:rPr lang="en-US" b="1" dirty="0"/>
              <a:t>IBM </a:t>
            </a:r>
            <a:r>
              <a:rPr lang="en-US" b="1" dirty="0" err="1"/>
              <a:t>Langflow</a:t>
            </a:r>
            <a:r>
              <a:rPr lang="en-US" b="1" dirty="0"/>
              <a:t>/IBM Orchestrate + IBM Models</a:t>
            </a:r>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153285" y="114359"/>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F30CC-07EF-8FCC-DA00-C9212F5DAECE}"/>
              </a:ext>
            </a:extLst>
          </p:cNvPr>
          <p:cNvSpPr txBox="1"/>
          <p:nvPr/>
        </p:nvSpPr>
        <p:spPr>
          <a:xfrm>
            <a:off x="359763" y="232139"/>
            <a:ext cx="7214616" cy="461665"/>
          </a:xfrm>
          <a:prstGeom prst="rect">
            <a:avLst/>
          </a:prstGeom>
          <a:noFill/>
        </p:spPr>
        <p:txBody>
          <a:bodyPr wrap="square" rtlCol="0">
            <a:spAutoFit/>
          </a:bodyPr>
          <a:lstStyle/>
          <a:p>
            <a:r>
              <a:rPr lang="en-US" sz="2400" b="1"/>
              <a:t>Proposed Solution -</a:t>
            </a:r>
            <a:endParaRPr lang="en-IN" sz="2400" b="1"/>
          </a:p>
        </p:txBody>
      </p:sp>
      <p:sp>
        <p:nvSpPr>
          <p:cNvPr id="7" name="TextBox 6">
            <a:extLst>
              <a:ext uri="{FF2B5EF4-FFF2-40B4-BE49-F238E27FC236}">
                <a16:creationId xmlns:a16="http://schemas.microsoft.com/office/drawing/2014/main" id="{11CC8835-E73A-57F8-2F40-4A68C94992C7}"/>
              </a:ext>
            </a:extLst>
          </p:cNvPr>
          <p:cNvSpPr txBox="1"/>
          <p:nvPr/>
        </p:nvSpPr>
        <p:spPr>
          <a:xfrm>
            <a:off x="589935" y="1111045"/>
            <a:ext cx="9055509" cy="3323987"/>
          </a:xfrm>
          <a:prstGeom prst="rect">
            <a:avLst/>
          </a:prstGeom>
          <a:noFill/>
        </p:spPr>
        <p:txBody>
          <a:bodyPr wrap="square">
            <a:spAutoFit/>
          </a:bodyPr>
          <a:lstStyle/>
          <a:p>
            <a:r>
              <a:rPr lang="en-IN" b="1" dirty="0"/>
              <a:t>Proposed Solution</a:t>
            </a:r>
            <a:r>
              <a:rPr lang="en-IN" dirty="0"/>
              <a:t>: AI-Powered Social Media </a:t>
            </a:r>
            <a:r>
              <a:rPr lang="en-IN" dirty="0" err="1"/>
              <a:t>AgentThe</a:t>
            </a:r>
            <a:r>
              <a:rPr lang="en-IN" dirty="0"/>
              <a:t> proposed solution is a multi-agent AI-powered Social Media Agent built using IBM Orchestrate, IBM watsonx.ai, and IBM Granite Models to help brands, creators, and businesses manage and optimize their social media presence.</a:t>
            </a:r>
          </a:p>
          <a:p>
            <a:r>
              <a:rPr lang="en-IN" dirty="0"/>
              <a:t>The system </a:t>
            </a:r>
            <a:r>
              <a:rPr lang="en-IN" dirty="0" err="1"/>
              <a:t>analyzes</a:t>
            </a:r>
            <a:r>
              <a:rPr lang="en-IN" dirty="0"/>
              <a:t> social media content, predicts trends, performs sentiment analysis, and generates AI-powered captions, hashtags, and campaign ideas. It provides real-time recommendations for improving engagement and selecting the best posting </a:t>
            </a:r>
            <a:r>
              <a:rPr lang="en-IN" dirty="0" err="1"/>
              <a:t>times.The</a:t>
            </a:r>
            <a:r>
              <a:rPr lang="en-IN" dirty="0"/>
              <a:t> solution consists of four key </a:t>
            </a:r>
            <a:r>
              <a:rPr lang="en-IN" dirty="0" err="1"/>
              <a:t>agents:Content</a:t>
            </a:r>
            <a:endParaRPr lang="en-IN" dirty="0"/>
          </a:p>
          <a:p>
            <a:r>
              <a:rPr lang="en-IN" dirty="0"/>
              <a:t> </a:t>
            </a:r>
            <a:r>
              <a:rPr lang="en-IN" b="1" dirty="0"/>
              <a:t>Generation Agen</a:t>
            </a:r>
            <a:r>
              <a:rPr lang="en-IN" dirty="0"/>
              <a:t>t – Creates engaging captions, hashtags, and campaign ideas based on user </a:t>
            </a:r>
            <a:r>
              <a:rPr lang="en-IN" dirty="0" err="1"/>
              <a:t>input.Trend</a:t>
            </a:r>
            <a:r>
              <a:rPr lang="en-IN" dirty="0"/>
              <a:t> &amp; Sentiment Analysis Agent – Detects trending topics and </a:t>
            </a:r>
            <a:r>
              <a:rPr lang="en-IN" dirty="0" err="1"/>
              <a:t>analyzes</a:t>
            </a:r>
            <a:r>
              <a:rPr lang="en-IN" dirty="0"/>
              <a:t> audience sentiment from social media </a:t>
            </a:r>
            <a:r>
              <a:rPr lang="en-IN" dirty="0" err="1"/>
              <a:t>data.Competitor</a:t>
            </a:r>
            <a:r>
              <a:rPr lang="en-IN" dirty="0"/>
              <a:t> Analysis Agent – Monitors competitor performance and suggests strategies to improve reach and </a:t>
            </a:r>
            <a:r>
              <a:rPr lang="en-IN" dirty="0" err="1"/>
              <a:t>engagement.Analytics</a:t>
            </a:r>
            <a:r>
              <a:rPr lang="en-IN" dirty="0"/>
              <a:t> &amp; Recommendation Agent – Visualizes engagement metrics and recommends the best posting schedule and content strategy.</a:t>
            </a:r>
          </a:p>
          <a:p>
            <a:r>
              <a:rPr lang="en-IN" dirty="0"/>
              <a:t>The application includes an interactive dashboard that displays engagement analytics, trend insights, sentiment reports, and campaign performance through easy-to-understand charts and </a:t>
            </a:r>
            <a:r>
              <a:rPr lang="en-IN" dirty="0" err="1"/>
              <a:t>graphs.Overall</a:t>
            </a:r>
            <a:r>
              <a:rPr lang="en-IN" dirty="0"/>
              <a:t>, the solution delivers an intelligent AI-powered social media assistant that helps users create better content, track performance, and make data-driven marketing decisions.</a:t>
            </a:r>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648929" y="1406013"/>
            <a:ext cx="10584917" cy="286232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b="1" dirty="0"/>
              <a:t>IBM Orchestrate – Designs and automates the multi-agent workflow for social media analysis and content generation.</a:t>
            </a:r>
          </a:p>
          <a:p>
            <a:pPr marL="285750" indent="-285750">
              <a:buFont typeface="Arial" panose="020B0604020202020204" pitchFamily="34" charset="0"/>
              <a:buChar char="•"/>
            </a:pPr>
            <a:r>
              <a:rPr lang="en-US" sz="1800" b="1" dirty="0"/>
              <a:t>IBM Granite Model (Granite-4.0-8B-Instruct) – Generates captions, hashtags, campaign ideas, and provides intelligent recommendations.</a:t>
            </a:r>
          </a:p>
          <a:p>
            <a:pPr marL="285750" indent="-285750">
              <a:buFont typeface="Arial" panose="020B0604020202020204" pitchFamily="34" charset="0"/>
              <a:buChar char="•"/>
            </a:pPr>
            <a:r>
              <a:rPr lang="en-US" sz="1800" b="1" dirty="0"/>
              <a:t>IBM watsonx.ai – Hosts and manages the AI models for content generation, sentiment analysis, and predictive insights.</a:t>
            </a:r>
          </a:p>
          <a:p>
            <a:pPr marL="285750" indent="-285750">
              <a:buFont typeface="Arial" panose="020B0604020202020204" pitchFamily="34" charset="0"/>
              <a:buChar char="•"/>
            </a:pPr>
            <a:r>
              <a:rPr lang="en-US" sz="1800" b="1" dirty="0"/>
              <a:t>IBM Cloud – Provides a secure, scalable, and reliable platform for deploying the AI-powered application.</a:t>
            </a:r>
          </a:p>
          <a:p>
            <a:pPr marL="285750" indent="-285750">
              <a:buFont typeface="Arial" panose="020B0604020202020204" pitchFamily="34" charset="0"/>
              <a:buChar char="•"/>
            </a:pPr>
            <a:r>
              <a:rPr lang="en-US" sz="1800" b="1" dirty="0"/>
              <a:t>HTML, CSS, JavaScript &amp; Chart.js – Used to build the responsive web interface, interactive dashboard, and analytics visualizations.</a:t>
            </a:r>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Orchestrate component</a:t>
            </a:r>
            <a:r>
              <a:rPr lang="en-US" sz="2400" b="1" dirty="0">
                <a:sym typeface="Times New Roman"/>
              </a:rPr>
              <a: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909310"/>
          </a:xfrm>
          <a:prstGeom prst="rect">
            <a:avLst/>
          </a:prstGeom>
          <a:noFill/>
        </p:spPr>
        <p:txBody>
          <a:bodyPr wrap="square" rtlCol="0">
            <a:spAutoFit/>
          </a:bodyPr>
          <a:lstStyle/>
          <a:p>
            <a:endParaRPr lang="en-US" dirty="0"/>
          </a:p>
          <a:p>
            <a:r>
              <a:rPr lang="en-US" b="1" dirty="0"/>
              <a:t>1. Chat Input</a:t>
            </a:r>
          </a:p>
          <a:p>
            <a:r>
              <a:rPr lang="en-US" b="1" dirty="0"/>
              <a:t>Accepts user prompts related to social media analysis, content generation, and marketing strategies.</a:t>
            </a:r>
          </a:p>
          <a:p>
            <a:endParaRPr lang="en-US" b="1" dirty="0"/>
          </a:p>
          <a:p>
            <a:r>
              <a:rPr lang="en-US" b="1" dirty="0"/>
              <a:t>2. IBM watsonx.ai Agent</a:t>
            </a:r>
          </a:p>
          <a:p>
            <a:r>
              <a:rPr lang="en-US" b="1" dirty="0"/>
              <a:t>Processes user input using IBM Granite models to generate captions, hashtags, sentiment analysis, and actionable recommendations.</a:t>
            </a:r>
          </a:p>
          <a:p>
            <a:endParaRPr lang="en-US" b="1" dirty="0"/>
          </a:p>
          <a:p>
            <a:r>
              <a:rPr lang="en-US" b="1" dirty="0"/>
              <a:t>3. IBM Granite Model</a:t>
            </a:r>
          </a:p>
          <a:p>
            <a:r>
              <a:rPr lang="en-US" b="1" dirty="0"/>
              <a:t>Granite-4.0-8B-Instruct – Used for content generation, trend analysis, and intelligent responses.</a:t>
            </a:r>
          </a:p>
          <a:p>
            <a:endParaRPr lang="en-US" b="1" dirty="0"/>
          </a:p>
          <a:p>
            <a:r>
              <a:rPr lang="en-US" b="1" dirty="0"/>
              <a:t>4. Chat Output</a:t>
            </a:r>
          </a:p>
          <a:p>
            <a:r>
              <a:rPr lang="en-US" b="1" dirty="0"/>
              <a:t>Displays AI-generated captions, trending hashtags, sentiment insights, competitor analysis, and the best posting strategies.</a:t>
            </a:r>
          </a:p>
          <a:p>
            <a:endParaRPr lang="en-US" b="1" dirty="0"/>
          </a:p>
          <a:p>
            <a:r>
              <a:rPr lang="en-US" b="1" dirty="0"/>
              <a:t>5. Project Files</a:t>
            </a:r>
          </a:p>
          <a:p>
            <a:r>
              <a:rPr lang="en-US" b="1" dirty="0"/>
              <a:t>index.html, style.css, script.js, data.js, README.md – Handle the UI, styling, application logic, sample data, and project documentation.</a:t>
            </a:r>
          </a:p>
          <a:p>
            <a:endParaRPr lang="en-US" b="1" dirty="0"/>
          </a:p>
          <a:p>
            <a:r>
              <a:rPr lang="en-US" b="1" dirty="0"/>
              <a:t>6. IBM Technologies Used</a:t>
            </a:r>
          </a:p>
          <a:p>
            <a:r>
              <a:rPr lang="en-US" b="1" dirty="0"/>
              <a:t>IBM Orchestrate</a:t>
            </a:r>
          </a:p>
          <a:p>
            <a:r>
              <a:rPr lang="en-US" b="1" dirty="0"/>
              <a:t>IBM watsonx.ai</a:t>
            </a:r>
          </a:p>
          <a:p>
            <a:r>
              <a:rPr lang="en-US" b="1" dirty="0"/>
              <a:t>IBM Granite-4.0-8B-Instruct</a:t>
            </a:r>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187071" y="0"/>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dirty="0">
                <a:sym typeface="Times New Roman"/>
              </a:rPr>
              <a:t>Agent Instructions Screenshot-</a:t>
            </a:r>
            <a:endParaRPr sz="2400" b="1" dirty="0">
              <a:sym typeface="Times New Roman"/>
            </a:endParaRPr>
          </a:p>
        </p:txBody>
      </p:sp>
      <p:pic>
        <p:nvPicPr>
          <p:cNvPr id="4" name="Picture 3">
            <a:extLst>
              <a:ext uri="{FF2B5EF4-FFF2-40B4-BE49-F238E27FC236}">
                <a16:creationId xmlns:a16="http://schemas.microsoft.com/office/drawing/2014/main" id="{FA0D9BF5-26F2-D1A1-4823-D8AA86356C5F}"/>
              </a:ext>
            </a:extLst>
          </p:cNvPr>
          <p:cNvPicPr>
            <a:picLocks noChangeAspect="1"/>
          </p:cNvPicPr>
          <p:nvPr/>
        </p:nvPicPr>
        <p:blipFill>
          <a:blip r:embed="rId3"/>
          <a:stretch>
            <a:fillRect/>
          </a:stretch>
        </p:blipFill>
        <p:spPr>
          <a:xfrm>
            <a:off x="0" y="541588"/>
            <a:ext cx="12192000" cy="6316412"/>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D458060A-E278-BD66-87FB-2E75164BF6A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7A67A7E-133E-870A-CCF2-C58BD8AD9F99}"/>
              </a:ext>
            </a:extLst>
          </p:cNvPr>
          <p:cNvPicPr>
            <a:picLocks noChangeAspect="1"/>
          </p:cNvPicPr>
          <p:nvPr/>
        </p:nvPicPr>
        <p:blipFill>
          <a:blip r:embed="rId3"/>
          <a:stretch>
            <a:fillRect/>
          </a:stretch>
        </p:blipFill>
        <p:spPr>
          <a:xfrm>
            <a:off x="0" y="0"/>
            <a:ext cx="12192000" cy="6941574"/>
          </a:xfrm>
          <a:prstGeom prst="rect">
            <a:avLst/>
          </a:prstGeom>
        </p:spPr>
      </p:pic>
    </p:spTree>
    <p:extLst>
      <p:ext uri="{BB962C8B-B14F-4D97-AF65-F5344CB8AC3E}">
        <p14:creationId xmlns:p14="http://schemas.microsoft.com/office/powerpoint/2010/main" val="755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C1F377F-D2E8-46B5-C7F3-C58589F456D4}"/>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189D03E3-C782-BAA0-25CD-AC8F93A156A1}"/>
              </a:ext>
            </a:extLst>
          </p:cNvPr>
          <p:cNvSpPr/>
          <p:nvPr/>
        </p:nvSpPr>
        <p:spPr>
          <a:xfrm>
            <a:off x="154132" y="0"/>
            <a:ext cx="7616194" cy="390635"/>
          </a:xfrm>
          <a:prstGeom prst="rect">
            <a:avLst/>
          </a:prstGeom>
          <a:noFill/>
          <a:ln>
            <a:noFill/>
          </a:ln>
        </p:spPr>
        <p:txBody>
          <a:bodyPr spcFirstLastPara="1" wrap="square" lIns="0" tIns="0" rIns="0" bIns="0" anchor="t" anchorCtr="0">
            <a:noAutofit/>
          </a:bodyPr>
          <a:lstStyle/>
          <a:p>
            <a:r>
              <a:rPr lang="en-US" sz="2400" b="1" dirty="0">
                <a:sym typeface="Times New Roman"/>
              </a:rPr>
              <a:t>Prompt with output Screenshot: </a:t>
            </a:r>
            <a:endParaRPr lang="en-US" dirty="0"/>
          </a:p>
        </p:txBody>
      </p:sp>
      <p:pic>
        <p:nvPicPr>
          <p:cNvPr id="6" name="Picture 5">
            <a:extLst>
              <a:ext uri="{FF2B5EF4-FFF2-40B4-BE49-F238E27FC236}">
                <a16:creationId xmlns:a16="http://schemas.microsoft.com/office/drawing/2014/main" id="{C2D7A92F-D411-1930-3241-17B8FFB955B5}"/>
              </a:ext>
            </a:extLst>
          </p:cNvPr>
          <p:cNvPicPr>
            <a:picLocks noChangeAspect="1"/>
          </p:cNvPicPr>
          <p:nvPr/>
        </p:nvPicPr>
        <p:blipFill>
          <a:blip r:embed="rId3"/>
          <a:stretch>
            <a:fillRect/>
          </a:stretch>
        </p:blipFill>
        <p:spPr>
          <a:xfrm>
            <a:off x="0" y="523644"/>
            <a:ext cx="12192000" cy="6334355"/>
          </a:xfrm>
          <a:prstGeom prst="rect">
            <a:avLst/>
          </a:prstGeom>
        </p:spPr>
      </p:pic>
    </p:spTree>
    <p:extLst>
      <p:ext uri="{BB962C8B-B14F-4D97-AF65-F5344CB8AC3E}">
        <p14:creationId xmlns:p14="http://schemas.microsoft.com/office/powerpoint/2010/main" val="3146073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C1F377F-D2E8-46B5-C7F3-C58589F456D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60545B0-B1D4-F0C7-C054-D8DEB8D2AA96}"/>
              </a:ext>
            </a:extLst>
          </p:cNvPr>
          <p:cNvPicPr>
            <a:picLocks noChangeAspect="1"/>
          </p:cNvPicPr>
          <p:nvPr/>
        </p:nvPicPr>
        <p:blipFill>
          <a:blip r:embed="rId3"/>
          <a:stretch>
            <a:fillRect/>
          </a:stretch>
        </p:blipFill>
        <p:spPr>
          <a:xfrm>
            <a:off x="0" y="78659"/>
            <a:ext cx="12192000" cy="6597444"/>
          </a:xfrm>
          <a:prstGeom prst="rect">
            <a:avLst/>
          </a:prstGeom>
        </p:spPr>
      </p:pic>
    </p:spTree>
    <p:extLst>
      <p:ext uri="{BB962C8B-B14F-4D97-AF65-F5344CB8AC3E}">
        <p14:creationId xmlns:p14="http://schemas.microsoft.com/office/powerpoint/2010/main" val="3342156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475488" y="1612490"/>
            <a:ext cx="7484119" cy="2893100"/>
          </a:xfrm>
          <a:prstGeom prst="rect">
            <a:avLst/>
          </a:prstGeom>
          <a:noFill/>
        </p:spPr>
        <p:txBody>
          <a:bodyPr wrap="square" rtlCol="0">
            <a:spAutoFit/>
          </a:bodyPr>
          <a:lstStyle/>
          <a:p>
            <a:r>
              <a:rPr lang="en-US" b="1" dirty="0"/>
              <a:t>Role of Agentic AI in Social Media Agent</a:t>
            </a:r>
          </a:p>
          <a:p>
            <a:r>
              <a:rPr lang="en-US" b="1" dirty="0"/>
              <a:t>Agentic AI enables the Social Media Agent to function as an intelligent, autonomous assistant rather than a simple chatbot. Using IBM watsonx.ai, IBM Granite Models, and IBM Orchestrate, it coordinates multiple AI agents to collect, analyze, and interpret data from platforms like Instagram, X, Facebook, and LinkedIn.</a:t>
            </a:r>
          </a:p>
          <a:p>
            <a:r>
              <a:rPr lang="en-US" b="1" dirty="0"/>
              <a:t>Each agent performs a specific task—such as monitoring social media trends, analyzing audience sentiment, generating captions and hashtags, predicting the best posting time, and providing competitor insights. This multi-agent approach ensures faster, accurate, and data-driven decision-making.</a:t>
            </a:r>
          </a:p>
          <a:p>
            <a:r>
              <a:rPr lang="en-US" b="1" dirty="0"/>
              <a:t>Agentic AI continuously adapts to changing trends and user inputs, providing real-time recommendations, personalized content strategies, and engagement optimization. Overall, it acts as a smart social media assistant that helps brands and creators improve their online presence and campaign performance.</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69317" y="0"/>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312026" y="610136"/>
            <a:ext cx="11312308" cy="6247864"/>
          </a:xfrm>
          <a:prstGeom prst="rect">
            <a:avLst/>
          </a:prstGeom>
          <a:noFill/>
        </p:spPr>
        <p:txBody>
          <a:bodyPr wrap="square" rtlCol="0">
            <a:spAutoFit/>
          </a:bodyPr>
          <a:lstStyle/>
          <a:p>
            <a:r>
              <a:rPr lang="en-US" sz="1600" dirty="0"/>
              <a:t>The proposed Social Media Agent stands out by combining Agentic AI, predictive analytics, and intelligent content generation into a single AI-powered platform.</a:t>
            </a:r>
          </a:p>
          <a:p>
            <a:endParaRPr lang="en-US" sz="1600" dirty="0"/>
          </a:p>
          <a:p>
            <a:r>
              <a:rPr lang="en-US" sz="1600" dirty="0"/>
              <a:t>Multi-Agent Intelligence – Multiple AI agents collaborate to analyze trends, generate content, monitor engagement, and provide actionable recommendations.</a:t>
            </a:r>
          </a:p>
          <a:p>
            <a:endParaRPr lang="en-US" sz="1600" dirty="0"/>
          </a:p>
          <a:p>
            <a:r>
              <a:rPr lang="en-US" sz="1600" dirty="0"/>
              <a:t>AI-Powered Content Creation – Automatically generates captions, hashtags, campaign ideas, and CTAs based on the user's topic and audience.</a:t>
            </a:r>
          </a:p>
          <a:p>
            <a:endParaRPr lang="en-US" sz="1600" dirty="0"/>
          </a:p>
          <a:p>
            <a:r>
              <a:rPr lang="en-US" sz="1600" dirty="0"/>
              <a:t>Predictive Social Media Insights – Forecasts trending hashtags, audience sentiment, and the best posting time for maximum engagement.</a:t>
            </a:r>
          </a:p>
          <a:p>
            <a:endParaRPr lang="en-US" sz="1600" dirty="0"/>
          </a:p>
          <a:p>
            <a:r>
              <a:rPr lang="en-US" sz="1600" dirty="0"/>
              <a:t>Real-Time Analytics – Provides live dashboards with engagement metrics, sentiment analysis, and campaign performance using interactive charts.</a:t>
            </a:r>
          </a:p>
          <a:p>
            <a:endParaRPr lang="en-US" sz="1600" dirty="0"/>
          </a:p>
          <a:p>
            <a:r>
              <a:rPr lang="en-US" sz="1600" dirty="0"/>
              <a:t>Competitor Analysis – Compares competitor performance and suggests strategies to improve reach and engagement.</a:t>
            </a:r>
          </a:p>
          <a:p>
            <a:endParaRPr lang="en-US" sz="1600" dirty="0"/>
          </a:p>
          <a:p>
            <a:r>
              <a:rPr lang="en-US" sz="1600" dirty="0"/>
              <a:t>Multimodal Interaction – Supports text and image inputs for content creation and analysis.</a:t>
            </a:r>
          </a:p>
          <a:p>
            <a:endParaRPr lang="en-US" sz="1600" dirty="0"/>
          </a:p>
          <a:p>
            <a:r>
              <a:rPr lang="en-US" sz="1600" dirty="0"/>
              <a:t>Scalable &amp; IBM Powered – Built using IBM watsonx.ai, IBM Granite Models, and IBM Orchestrate, ensuring reliable, intelligent, and enterprise-ready AI workflows.</a:t>
            </a:r>
          </a:p>
          <a:p>
            <a:endParaRPr lang="en-US" sz="1600" dirty="0"/>
          </a:p>
          <a:p>
            <a:endParaRPr lang="en-US" sz="1600" dirty="0"/>
          </a:p>
          <a:p>
            <a:r>
              <a:rPr lang="en-US" sz="1600" dirty="0"/>
              <a:t>This makes the solution a smart, adaptive, and proactive AI social media assistant that helps brands and creators optimize their online presence and marketing campaigns.</a:t>
            </a:r>
            <a:endParaRPr lang="en-IN" sz="1600" dirty="0"/>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314156" y="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75295DAE-9994-083F-F42B-FF0FB6F65B34}"/>
              </a:ext>
            </a:extLst>
          </p:cNvPr>
          <p:cNvSpPr txBox="1"/>
          <p:nvPr/>
        </p:nvSpPr>
        <p:spPr>
          <a:xfrm>
            <a:off x="314156" y="735424"/>
            <a:ext cx="10983109" cy="5816977"/>
          </a:xfrm>
          <a:prstGeom prst="rect">
            <a:avLst/>
          </a:prstGeom>
          <a:noFill/>
        </p:spPr>
        <p:txBody>
          <a:bodyPr wrap="square">
            <a:spAutoFit/>
          </a:bodyPr>
          <a:lstStyle/>
          <a:p>
            <a:endParaRPr lang="en-IN" sz="2000" dirty="0"/>
          </a:p>
          <a:p>
            <a:r>
              <a:rPr lang="en-IN" sz="1600" dirty="0"/>
              <a:t>1. </a:t>
            </a:r>
            <a:r>
              <a:rPr lang="en-IN" sz="1600" b="1" dirty="0"/>
              <a:t>AI-Powered Social Media Automation</a:t>
            </a:r>
          </a:p>
          <a:p>
            <a:endParaRPr lang="en-IN" sz="1600" b="1" dirty="0"/>
          </a:p>
          <a:p>
            <a:r>
              <a:rPr lang="en-IN" sz="1600" dirty="0"/>
              <a:t>The system can be enhanced to automatically schedule posts, respond to comments, monitor brand mentions, and optimize campaigns using real-time AI insights. This will reduce manual effort and improve engagement.</a:t>
            </a:r>
          </a:p>
          <a:p>
            <a:endParaRPr lang="en-IN" sz="1600" dirty="0"/>
          </a:p>
          <a:p>
            <a:r>
              <a:rPr lang="en-IN" sz="1600" dirty="0"/>
              <a:t>2. </a:t>
            </a:r>
            <a:r>
              <a:rPr lang="en-IN" sz="1600" b="1" dirty="0"/>
              <a:t>Multimodal &amp; Multilingual Support</a:t>
            </a:r>
          </a:p>
          <a:p>
            <a:endParaRPr lang="en-IN" sz="1600" dirty="0"/>
          </a:p>
          <a:p>
            <a:r>
              <a:rPr lang="en-IN" sz="1600" dirty="0"/>
              <a:t>Future versions can support voice commands, multiple languages, and advanced image/video analysis, making the platform accessible to a wider audience and enabling more personalized content generation across global social media platforms.</a:t>
            </a:r>
          </a:p>
          <a:p>
            <a:endParaRPr lang="en-IN" sz="1600" dirty="0"/>
          </a:p>
          <a:p>
            <a:r>
              <a:rPr lang="en-IN" sz="1600" dirty="0"/>
              <a:t>3. </a:t>
            </a:r>
            <a:r>
              <a:rPr lang="en-IN" sz="1600" b="1" dirty="0"/>
              <a:t>Real-Time Platform Integration</a:t>
            </a:r>
          </a:p>
          <a:p>
            <a:endParaRPr lang="en-IN" sz="1600" b="1" dirty="0"/>
          </a:p>
          <a:p>
            <a:r>
              <a:rPr lang="en-IN" sz="1600" dirty="0"/>
              <a:t>Integrate directly with Instagram, X, Facebook, LinkedIn, and YouTube APIs to fetch live data, monitor trends, and publish content automatically.</a:t>
            </a:r>
          </a:p>
          <a:p>
            <a:endParaRPr lang="en-IN" sz="1600" dirty="0"/>
          </a:p>
          <a:p>
            <a:r>
              <a:rPr lang="en-IN" sz="1600" dirty="0"/>
              <a:t>4. </a:t>
            </a:r>
            <a:r>
              <a:rPr lang="en-IN" sz="1600" b="1" dirty="0"/>
              <a:t>Advanced Predictive Analytics</a:t>
            </a:r>
          </a:p>
          <a:p>
            <a:endParaRPr lang="en-IN" sz="1600" dirty="0"/>
          </a:p>
          <a:p>
            <a:r>
              <a:rPr lang="en-IN" sz="1600" dirty="0"/>
              <a:t>Use IBM AI models to forecast viral trends, audience </a:t>
            </a:r>
            <a:r>
              <a:rPr lang="en-IN" sz="1600" dirty="0" err="1"/>
              <a:t>behavior</a:t>
            </a:r>
            <a:r>
              <a:rPr lang="en-IN" sz="1600" dirty="0"/>
              <a:t>, and campaign performance, helping brands make smarter marketing decisions before trends peak.</a:t>
            </a:r>
          </a:p>
          <a:p>
            <a:endParaRPr lang="en-IN" sz="1600" dirty="0"/>
          </a:p>
          <a:p>
            <a:r>
              <a:rPr lang="en-IN" sz="1600" dirty="0"/>
              <a:t>This future roadmap will transform the solution into a fully autonomous AI-powered social media management platform.</a:t>
            </a: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r>
              <a:rPr lang="en-US" sz="1850" dirty="0">
                <a:solidFill>
                  <a:srgbClr val="2B3541"/>
                </a:solidFill>
                <a:latin typeface="Times New Roman"/>
                <a:ea typeface="Times New Roman"/>
                <a:cs typeface="Times New Roman"/>
                <a:sym typeface="Times New Roman"/>
                <a:hlinkClick r:id="rId3"/>
              </a:rPr>
              <a:t>https://github.com/iffatmujawar123-hub/smart-study-generator-agent.git</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r>
              <a:rPr lang="en-US" sz="1850" dirty="0">
                <a:solidFill>
                  <a:srgbClr val="2B3541"/>
                </a:solidFill>
                <a:latin typeface="Times New Roman"/>
                <a:ea typeface="Times New Roman"/>
                <a:cs typeface="Times New Roman"/>
                <a:sym typeface="Times New Roman"/>
                <a:hlinkClick r:id="rId3"/>
              </a:rPr>
              <a:t>https://github.com/ankitap021105-del/Social-Media-Agent.git</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102601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F5E6D-8B7C-9E2E-3253-E6EDBCFD6A8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5B64ACC-D984-40DF-B3AC-ADCC7C018F31}"/>
              </a:ext>
            </a:extLst>
          </p:cNvPr>
          <p:cNvSpPr txBox="1"/>
          <p:nvPr/>
        </p:nvSpPr>
        <p:spPr>
          <a:xfrm>
            <a:off x="131304" y="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pic>
        <p:nvPicPr>
          <p:cNvPr id="5" name="Picture 4">
            <a:extLst>
              <a:ext uri="{FF2B5EF4-FFF2-40B4-BE49-F238E27FC236}">
                <a16:creationId xmlns:a16="http://schemas.microsoft.com/office/drawing/2014/main" id="{78FF53CB-6F83-D037-5FC7-CCAA779A61DA}"/>
              </a:ext>
            </a:extLst>
          </p:cNvPr>
          <p:cNvPicPr>
            <a:picLocks noChangeAspect="1"/>
          </p:cNvPicPr>
          <p:nvPr/>
        </p:nvPicPr>
        <p:blipFill>
          <a:blip r:embed="rId2"/>
          <a:stretch>
            <a:fillRect/>
          </a:stretch>
        </p:blipFill>
        <p:spPr>
          <a:xfrm>
            <a:off x="2064731" y="1052052"/>
            <a:ext cx="8062538" cy="5912785"/>
          </a:xfrm>
          <a:prstGeom prst="rect">
            <a:avLst/>
          </a:prstGeom>
        </p:spPr>
      </p:pic>
    </p:spTree>
    <p:extLst>
      <p:ext uri="{BB962C8B-B14F-4D97-AF65-F5344CB8AC3E}">
        <p14:creationId xmlns:p14="http://schemas.microsoft.com/office/powerpoint/2010/main" val="40388399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78374" y="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Arial"/>
              </a:rPr>
              <a:t>Certificates Earned:</a:t>
            </a:r>
            <a:r>
              <a:rPr sz="2400" b="0" i="0" dirty="0">
                <a:solidFill>
                  <a:srgbClr val="000000"/>
                </a:solidFill>
                <a:latin typeface="Arial"/>
                <a:ea typeface="Arial"/>
                <a:cs typeface="Arial"/>
              </a:rPr>
              <a:t>​</a:t>
            </a:r>
            <a:endParaRPr lang="en-US" dirty="0"/>
          </a:p>
          <a:p>
            <a:pPr algn="ctr"/>
            <a:endParaRPr lang="en-US" dirty="0"/>
          </a:p>
        </p:txBody>
      </p:sp>
      <p:pic>
        <p:nvPicPr>
          <p:cNvPr id="3" name="Picture 2">
            <a:extLst>
              <a:ext uri="{FF2B5EF4-FFF2-40B4-BE49-F238E27FC236}">
                <a16:creationId xmlns:a16="http://schemas.microsoft.com/office/drawing/2014/main" id="{2B01D1DE-6797-1A4C-E7C1-E7AD0F8C817B}"/>
              </a:ext>
            </a:extLst>
          </p:cNvPr>
          <p:cNvPicPr>
            <a:picLocks noChangeAspect="1"/>
          </p:cNvPicPr>
          <p:nvPr/>
        </p:nvPicPr>
        <p:blipFill>
          <a:blip r:embed="rId2"/>
          <a:stretch>
            <a:fillRect/>
          </a:stretch>
        </p:blipFill>
        <p:spPr>
          <a:xfrm>
            <a:off x="1936956" y="963560"/>
            <a:ext cx="8601892" cy="5894439"/>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0" y="12953"/>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pic>
        <p:nvPicPr>
          <p:cNvPr id="5" name="Picture 4">
            <a:extLst>
              <a:ext uri="{FF2B5EF4-FFF2-40B4-BE49-F238E27FC236}">
                <a16:creationId xmlns:a16="http://schemas.microsoft.com/office/drawing/2014/main" id="{02D04900-1A2A-5BFA-2894-7476AED7E6E4}"/>
              </a:ext>
            </a:extLst>
          </p:cNvPr>
          <p:cNvPicPr>
            <a:picLocks noChangeAspect="1"/>
          </p:cNvPicPr>
          <p:nvPr/>
        </p:nvPicPr>
        <p:blipFill>
          <a:blip r:embed="rId2"/>
          <a:stretch>
            <a:fillRect/>
          </a:stretch>
        </p:blipFill>
        <p:spPr>
          <a:xfrm>
            <a:off x="796413" y="875071"/>
            <a:ext cx="10717161" cy="5841870"/>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1488</Words>
  <Application>Microsoft Office PowerPoint</Application>
  <PresentationFormat>Widescreen</PresentationFormat>
  <Paragraphs>135</Paragraphs>
  <Slides>19</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ankita panchal</cp:lastModifiedBy>
  <cp:revision>99</cp:revision>
  <dcterms:created xsi:type="dcterms:W3CDTF">2025-07-08T05:06:56Z</dcterms:created>
  <dcterms:modified xsi:type="dcterms:W3CDTF">2026-07-15T05:27:01Z</dcterms:modified>
</cp:coreProperties>
</file>